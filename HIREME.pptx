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98" r:id="rId3"/>
    <p:sldId id="281" r:id="rId4"/>
    <p:sldId id="290" r:id="rId5"/>
    <p:sldId id="293" r:id="rId6"/>
    <p:sldId id="294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3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0"/>
            <a:ext cx="3203509" cy="3556625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374316"/>
            <a:ext cx="8534400" cy="1379621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1334962"/>
            <a:ext cx="5924550" cy="51982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SIH26044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Portal for Academia – Industry collaboration for Skill Mapping, Internships and Placements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Theme- Smart Automation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Team Name-HIREME</a:t>
            </a:r>
            <a:endParaRPr lang="en-IN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20001" name="Intro Text"/>
          <p:cNvSpPr txBox="1"/>
          <p:nvPr/>
        </p:nvSpPr>
        <p:spPr bwMode="auto">
          <a:xfrm>
            <a:off x="182998" y="1350000"/>
            <a:ext cx="11826003" cy="450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Why students, colleges and companies stay disconnected:</a:t>
            </a:r>
          </a:p>
        </p:txBody>
      </p:sp>
      <p:sp>
        <p:nvSpPr>
          <p:cNvPr id="21000" name="Badge 01"/>
          <p:cNvSpPr/>
          <p:nvPr/>
        </p:nvSpPr>
        <p:spPr>
          <a:xfrm>
            <a:off x="182998" y="185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01</a:t>
            </a:r>
          </a:p>
        </p:txBody>
      </p:sp>
      <p:sp>
        <p:nvSpPr>
          <p:cNvPr id="21001" name="Item Text 21001"/>
          <p:cNvSpPr txBox="1"/>
          <p:nvPr/>
        </p:nvSpPr>
        <p:spPr bwMode="auto">
          <a:xfrm>
            <a:off x="708998" y="1810000"/>
            <a:ext cx="5311501" cy="10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Curriculum vs. Industry Mismatch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Colleges teach a fixed curriculum; companies hire for constantly changing industry requirements.</a:t>
            </a:r>
          </a:p>
        </p:txBody>
      </p:sp>
      <p:sp>
        <p:nvSpPr>
          <p:cNvPr id="21002" name="Badge 02"/>
          <p:cNvSpPr/>
          <p:nvPr/>
        </p:nvSpPr>
        <p:spPr>
          <a:xfrm>
            <a:off x="182998" y="293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02</a:t>
            </a:r>
          </a:p>
        </p:txBody>
      </p:sp>
      <p:sp>
        <p:nvSpPr>
          <p:cNvPr id="21003" name="Item Text 21003"/>
          <p:cNvSpPr txBox="1"/>
          <p:nvPr/>
        </p:nvSpPr>
        <p:spPr bwMode="auto">
          <a:xfrm>
            <a:off x="708998" y="2890000"/>
            <a:ext cx="5311501" cy="10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Resumes Don't Prove Skill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A resume doesn't reliably prove what a student can actually do.</a:t>
            </a:r>
          </a:p>
        </p:txBody>
      </p:sp>
      <p:sp>
        <p:nvSpPr>
          <p:cNvPr id="21004" name="Badge 03"/>
          <p:cNvSpPr/>
          <p:nvPr/>
        </p:nvSpPr>
        <p:spPr>
          <a:xfrm>
            <a:off x="182998" y="401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03</a:t>
            </a:r>
          </a:p>
        </p:txBody>
      </p:sp>
      <p:sp>
        <p:nvSpPr>
          <p:cNvPr id="21005" name="Item Text 21005"/>
          <p:cNvSpPr txBox="1"/>
          <p:nvPr/>
        </p:nvSpPr>
        <p:spPr bwMode="auto">
          <a:xfrm>
            <a:off x="708998" y="3970000"/>
            <a:ext cx="5311501" cy="10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Speed Mismatch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Curriculum changes slowly — industry requirements change fast.</a:t>
            </a:r>
          </a:p>
        </p:txBody>
      </p:sp>
      <p:sp>
        <p:nvSpPr>
          <p:cNvPr id="21006" name="Badge 04"/>
          <p:cNvSpPr/>
          <p:nvPr/>
        </p:nvSpPr>
        <p:spPr>
          <a:xfrm>
            <a:off x="182998" y="509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04</a:t>
            </a:r>
          </a:p>
        </p:txBody>
      </p:sp>
      <p:sp>
        <p:nvSpPr>
          <p:cNvPr id="21007" name="Item Text 21007"/>
          <p:cNvSpPr txBox="1"/>
          <p:nvPr/>
        </p:nvSpPr>
        <p:spPr bwMode="auto">
          <a:xfrm>
            <a:off x="708998" y="5050000"/>
            <a:ext cx="5311501" cy="10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Toy Projects vs. Real Problems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Students build calculators, to-do apps &amp; generic CRUD demos, while companies sit on real problems — with no bridge between the two.</a:t>
            </a:r>
          </a:p>
        </p:txBody>
      </p:sp>
      <p:sp>
        <p:nvSpPr>
          <p:cNvPr id="21008" name="Badge 05"/>
          <p:cNvSpPr/>
          <p:nvPr/>
        </p:nvSpPr>
        <p:spPr>
          <a:xfrm>
            <a:off x="6170499" y="185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05</a:t>
            </a:r>
          </a:p>
        </p:txBody>
      </p:sp>
      <p:sp>
        <p:nvSpPr>
          <p:cNvPr id="21009" name="Item Text 21009"/>
          <p:cNvSpPr txBox="1"/>
          <p:nvPr/>
        </p:nvSpPr>
        <p:spPr bwMode="auto">
          <a:xfrm>
            <a:off x="6696499" y="1810000"/>
            <a:ext cx="5311501" cy="9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No Clear Learning Direction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Students don’t know “what to learn next.” Thousands of courses &amp; jobs exist, but none point to what matters for their target career.</a:t>
            </a:r>
          </a:p>
        </p:txBody>
      </p:sp>
      <p:sp>
        <p:nvSpPr>
          <p:cNvPr id="21010" name="Badge 06"/>
          <p:cNvSpPr/>
          <p:nvPr/>
        </p:nvSpPr>
        <p:spPr>
          <a:xfrm>
            <a:off x="6170499" y="283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06</a:t>
            </a:r>
          </a:p>
        </p:txBody>
      </p:sp>
      <p:sp>
        <p:nvSpPr>
          <p:cNvPr id="21011" name="Item Text 21011"/>
          <p:cNvSpPr txBox="1"/>
          <p:nvPr/>
        </p:nvSpPr>
        <p:spPr bwMode="auto">
          <a:xfrm>
            <a:off x="6696499" y="2790000"/>
            <a:ext cx="5311501" cy="9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No Access to Mentors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Students want guidance from professionals but don’t know who to talk to.</a:t>
            </a:r>
          </a:p>
        </p:txBody>
      </p:sp>
      <p:sp>
        <p:nvSpPr>
          <p:cNvPr id="21012" name="Badge 07"/>
          <p:cNvSpPr/>
          <p:nvPr/>
        </p:nvSpPr>
        <p:spPr>
          <a:xfrm>
            <a:off x="6170499" y="3810000"/>
            <a:ext cx="396000" cy="39600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07</a:t>
            </a:r>
          </a:p>
        </p:txBody>
      </p:sp>
      <p:sp>
        <p:nvSpPr>
          <p:cNvPr id="21013" name="Item Text 21013"/>
          <p:cNvSpPr txBox="1"/>
          <p:nvPr/>
        </p:nvSpPr>
        <p:spPr bwMode="auto">
          <a:xfrm>
            <a:off x="6696499" y="3770000"/>
            <a:ext cx="5311501" cy="9200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No First Real Project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1250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Without professional experience, students struggle to land their very first real project.</a:t>
            </a:r>
          </a:p>
        </p:txBody>
      </p:sp>
      <p:sp>
        <p:nvSpPr>
          <p:cNvPr id="21014" name="Callout"/>
          <p:cNvSpPr/>
          <p:nvPr/>
        </p:nvSpPr>
        <p:spPr bwMode="auto">
          <a:xfrm>
            <a:off x="6170499" y="4910000"/>
            <a:ext cx="5837501" cy="1250000"/>
          </a:xfrm>
          <a:prstGeom prst="roundRect">
            <a:avLst>
              <a:gd name="adj" fmla="val 6000"/>
            </a:avLst>
          </a:prstGeom>
          <a:solidFill>
            <a:srgbClr val="EAF3FB"/>
          </a:solidFill>
          <a:ln w="9525">
            <a:noFill/>
          </a:ln>
        </p:spPr>
        <p:txBody>
          <a:bodyPr wrap="square" lIns="180000" tIns="90000" rIns="180000" bIns="90000" anchor="ctr">
            <a:no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The Result: </a:t>
            </a:r>
            <a:r>
              <a:rPr lang="en-US" sz="1300" dirty="0">
                <a:solidFill>
                  <a:srgbClr val="1F1F1F"/>
                </a:solidFill>
                <a:latin typeface="Arial" pitchFamily="34" charset="0"/>
                <a:cs typeface="Arial" pitchFamily="34" charset="0"/>
              </a:rPr>
              <a:t>Talented students stay invisible and real opportunities stay unfilled — because no platform connects the right skills to the right opportunities.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HIREME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HIREME</a:t>
            </a:r>
          </a:p>
        </p:txBody>
      </p:sp>
      <p:sp>
        <p:nvSpPr>
          <p:cNvPr id="30000" name="Subheading"/>
          <p:cNvSpPr txBox="1">
            <a:spLocks noChangeArrowheads="1"/>
          </p:cNvSpPr>
          <p:nvPr/>
        </p:nvSpPr>
        <p:spPr bwMode="auto">
          <a:xfrm>
            <a:off x="182998" y="1561683"/>
            <a:ext cx="11826003" cy="38000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Proposed Solution — HIREME</a:t>
            </a:r>
          </a:p>
        </p:txBody>
      </p:sp>
      <p:sp>
        <p:nvSpPr>
          <p:cNvPr id="30001" name="Line 30001"/>
          <p:cNvSpPr txBox="1"/>
          <p:nvPr/>
        </p:nvSpPr>
        <p:spPr bwMode="auto">
          <a:xfrm>
            <a:off x="182998" y="1961683"/>
            <a:ext cx="11826003" cy="2800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13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An AI-powered skill-to-opportunity ecosystem connecting Students, Academia &amp; Industry</a:t>
            </a:r>
          </a:p>
        </p:txBody>
      </p:sp>
      <p:sp>
        <p:nvSpPr>
          <p:cNvPr id="30010" name="Pill BUILD"/>
          <p:cNvSpPr/>
          <p:nvPr/>
        </p:nvSpPr>
        <p:spPr>
          <a:xfrm>
            <a:off x="182998" y="2281683"/>
            <a:ext cx="2293200" cy="470000"/>
          </a:xfrm>
          <a:prstGeom prst="roundRect">
            <a:avLst>
              <a:gd name="adj" fmla="val 50000"/>
            </a:avLst>
          </a:prstGeom>
          <a:solidFill>
            <a:srgbClr val="DCE6F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BUILD</a:t>
            </a:r>
          </a:p>
        </p:txBody>
      </p:sp>
      <p:sp>
        <p:nvSpPr>
          <p:cNvPr id="30011" name="Pill MAP"/>
          <p:cNvSpPr/>
          <p:nvPr/>
        </p:nvSpPr>
        <p:spPr>
          <a:xfrm>
            <a:off x="2566198" y="2281683"/>
            <a:ext cx="2293200" cy="470000"/>
          </a:xfrm>
          <a:prstGeom prst="roundRect">
            <a:avLst>
              <a:gd name="adj" fmla="val 50000"/>
            </a:avLst>
          </a:prstGeom>
          <a:solidFill>
            <a:srgbClr val="DCE6F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MAP</a:t>
            </a:r>
          </a:p>
        </p:txBody>
      </p:sp>
      <p:sp>
        <p:nvSpPr>
          <p:cNvPr id="30012" name="Pill IMPROVE"/>
          <p:cNvSpPr/>
          <p:nvPr/>
        </p:nvSpPr>
        <p:spPr>
          <a:xfrm>
            <a:off x="4949398" y="2281683"/>
            <a:ext cx="2293200" cy="470000"/>
          </a:xfrm>
          <a:prstGeom prst="roundRect">
            <a:avLst>
              <a:gd name="adj" fmla="val 50000"/>
            </a:avLst>
          </a:prstGeom>
          <a:solidFill>
            <a:srgbClr val="DCE6F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IMPROVE</a:t>
            </a:r>
          </a:p>
        </p:txBody>
      </p:sp>
      <p:sp>
        <p:nvSpPr>
          <p:cNvPr id="30013" name="Pill CONNECT"/>
          <p:cNvSpPr/>
          <p:nvPr/>
        </p:nvSpPr>
        <p:spPr>
          <a:xfrm>
            <a:off x="7332598" y="2281683"/>
            <a:ext cx="2293200" cy="470000"/>
          </a:xfrm>
          <a:prstGeom prst="roundRect">
            <a:avLst>
              <a:gd name="adj" fmla="val 50000"/>
            </a:avLst>
          </a:prstGeom>
          <a:solidFill>
            <a:srgbClr val="DCE6F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CONNECT</a:t>
            </a:r>
          </a:p>
        </p:txBody>
      </p:sp>
      <p:sp>
        <p:nvSpPr>
          <p:cNvPr id="30014" name="Pill GET HIRED"/>
          <p:cNvSpPr/>
          <p:nvPr/>
        </p:nvSpPr>
        <p:spPr>
          <a:xfrm>
            <a:off x="9715798" y="2281683"/>
            <a:ext cx="2293200" cy="470000"/>
          </a:xfrm>
          <a:prstGeom prst="roundRect">
            <a:avLst>
              <a:gd name="adj" fmla="val 50000"/>
            </a:avLst>
          </a:prstGeom>
          <a:solidFill>
            <a:srgbClr val="DCE6F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GET HIRED</a:t>
            </a:r>
          </a:p>
        </p:txBody>
      </p:sp>
      <p:sp>
        <p:nvSpPr>
          <p:cNvPr id="30020" name="Card BUILD YOUR SKILL IDENTITY"/>
          <p:cNvSpPr/>
          <p:nvPr/>
        </p:nvSpPr>
        <p:spPr>
          <a:xfrm>
            <a:off x="182998" y="2841683"/>
            <a:ext cx="3875334" cy="14800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  <a:effectLst>
            <a:outerShdw dist="19000" dir="5400000" rotWithShape="0">
              <a:srgbClr val="80808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cs typeface="Arial" pitchFamily="34" charset="0"/>
              </a:rPr>
              <a:t>BUILD YOUR SKILL IDENTITY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AI turns CVs, skills, projects, certifications and achievements into a dynamic Skill Passport.</a:t>
            </a:r>
          </a:p>
        </p:txBody>
      </p:sp>
      <p:sp>
        <p:nvSpPr>
          <p:cNvPr id="30021" name="Card MAP &amp; IMPROVE"/>
          <p:cNvSpPr/>
          <p:nvPr/>
        </p:nvSpPr>
        <p:spPr>
          <a:xfrm>
            <a:off x="4158332" y="2841683"/>
            <a:ext cx="3875334" cy="14800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  <a:effectLst>
            <a:outerShdw dist="19000" dir="5400000" rotWithShape="0">
              <a:srgbClr val="80808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B0298C"/>
                </a:solidFill>
                <a:latin typeface="Arial" pitchFamily="34" charset="0"/>
                <a:cs typeface="Arial" pitchFamily="34" charset="0"/>
              </a:rPr>
              <a:t>MAP &amp; IMPROVE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AI compares skills with industry needs, identifies gaps and recommends skills, learning paths, projects and assessments.</a:t>
            </a:r>
          </a:p>
        </p:txBody>
      </p:sp>
      <p:sp>
        <p:nvSpPr>
          <p:cNvPr id="30022" name="Card CONNECT &amp; GET HIRED"/>
          <p:cNvSpPr/>
          <p:nvPr/>
        </p:nvSpPr>
        <p:spPr>
          <a:xfrm>
            <a:off x="8133666" y="2841683"/>
            <a:ext cx="3875334" cy="14800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  <a:effectLst>
            <a:outerShdw dist="19000" dir="5400000" rotWithShape="0">
              <a:srgbClr val="80808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en-US" sz="1300" b="1" dirty="0">
                <a:solidFill>
                  <a:srgbClr val="E07B24"/>
                </a:solidFill>
                <a:latin typeface="Arial" pitchFamily="34" charset="0"/>
                <a:cs typeface="Arial" pitchFamily="34" charset="0"/>
              </a:rPr>
              <a:t>CONNECT &amp; GET HIRED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Matches users to jobs, internships, real-world projects and freelance opportunities using skills, interests and career goals.</a:t>
            </a:r>
          </a:p>
        </p:txBody>
      </p:sp>
      <p:sp>
        <p:nvSpPr>
          <p:cNvPr id="30030" name="Card INDUSTRY + ACADEMIA + FREELANCING"/>
          <p:cNvSpPr/>
          <p:nvPr/>
        </p:nvSpPr>
        <p:spPr>
          <a:xfrm>
            <a:off x="182998" y="4411683"/>
            <a:ext cx="11826003" cy="1000000"/>
          </a:xfrm>
          <a:prstGeom prst="roundRect">
            <a:avLst>
              <a:gd name="adj" fmla="val 5000"/>
            </a:avLst>
          </a:prstGeom>
          <a:solidFill>
            <a:srgbClr val="F7F8FB"/>
          </a:solidFill>
          <a:ln>
            <a:noFill/>
          </a:ln>
          <a:effectLst>
            <a:outerShdw dist="19000" dir="5400000" rotWithShape="0">
              <a:srgbClr val="808080">
                <a:alpha val="30000"/>
              </a:srgbClr>
            </a:outerShdw>
          </a:effectLst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300" b="1" dirty="0">
                <a:solidFill>
                  <a:srgbClr val="B8860B"/>
                </a:solidFill>
                <a:latin typeface="Arial" pitchFamily="34" charset="0"/>
                <a:cs typeface="Arial" pitchFamily="34" charset="0"/>
              </a:rPr>
              <a:t>INDUSTRY + ACADEMIA + FREELANCING</a:t>
            </a:r>
          </a:p>
          <a:p>
            <a:pPr algn="ctr">
              <a:spcBef>
                <a:spcPts val="300"/>
              </a:spcBef>
              <a:buNone/>
            </a:pPr>
            <a:r>
              <a:rPr lang="en-US" sz="11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Companies discover skill-matched young talent and post jobs, internships and projects. Colleges identify industry skill gaps and improve student readiness. Students and freelancers discover, collaborate on and manage relevant projects.</a:t>
            </a:r>
          </a:p>
        </p:txBody>
      </p:sp>
      <p:sp>
        <p:nvSpPr>
          <p:cNvPr id="30031" name="Line 30031"/>
          <p:cNvSpPr txBox="1"/>
          <p:nvPr/>
        </p:nvSpPr>
        <p:spPr bwMode="auto">
          <a:xfrm>
            <a:off x="182998" y="5491683"/>
            <a:ext cx="11826003" cy="2800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1250" b="1" dirty="0">
                <a:solidFill>
                  <a:srgbClr val="0070C0"/>
                </a:solidFill>
                <a:latin typeface="Arial" pitchFamily="34" charset="0"/>
                <a:cs typeface="Arial" pitchFamily="34" charset="0"/>
              </a:rPr>
              <a:t>CV → SKILLS → SKILL GAP → PROJECT → VERIFIED SKILLS → OPPORTUNITY → PLACEMENT</a:t>
            </a:r>
          </a:p>
        </p:txBody>
      </p:sp>
      <p:sp>
        <p:nvSpPr>
          <p:cNvPr id="30032" name="Line 30032"/>
          <p:cNvSpPr txBox="1"/>
          <p:nvPr/>
        </p:nvSpPr>
        <p:spPr bwMode="auto">
          <a:xfrm>
            <a:off x="182998" y="5811683"/>
            <a:ext cx="11826003" cy="300000"/>
          </a:xfrm>
          <a:prstGeom prst="rect">
            <a:avLst/>
          </a:prstGeom>
          <a:noFill/>
          <a:ln w="9525">
            <a:noFill/>
          </a:ln>
        </p:spPr>
        <p:txBody>
          <a:bodyPr wrap="square" anchor="ctr">
            <a:noAutofit/>
          </a:bodyPr>
          <a:lstStyle/>
          <a:p>
            <a:pPr algn="ctr">
              <a:buNone/>
            </a:pPr>
            <a:r>
              <a:rPr lang="en-US" sz="1250" i="1" dirty="0">
                <a:solidFill>
                  <a:srgbClr val="595959"/>
                </a:solidFill>
                <a:latin typeface="Arial" pitchFamily="34" charset="0"/>
                <a:cs typeface="Arial" pitchFamily="34" charset="0"/>
              </a:rPr>
              <a:t>“We don’t just connect people to opportunities — we connect the right skills to the right opportunities.”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HIREME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HIREME</a:t>
            </a:r>
            <a:endParaRPr lang="en-IN" sz="16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34440"/>
            <a:ext cx="2121408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Oval 17410"/>
          <p:cNvSpPr/>
          <p:nvPr/>
        </p:nvSpPr>
        <p:spPr>
          <a:xfrm>
            <a:off x="1170432" y="1399032"/>
            <a:ext cx="512064" cy="512064"/>
          </a:xfrm>
          <a:prstGeom prst="ellipse">
            <a:avLst/>
          </a:prstGeom>
          <a:solidFill>
            <a:srgbClr val="61D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399032"/>
            <a:ext cx="21214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⌘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38912" y="1965960"/>
            <a:ext cx="1975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React.js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38912" y="2221992"/>
            <a:ext cx="19751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Frontend &amp; User Interface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2624327" y="1234440"/>
            <a:ext cx="2121408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Oval 17415"/>
          <p:cNvSpPr/>
          <p:nvPr/>
        </p:nvSpPr>
        <p:spPr>
          <a:xfrm>
            <a:off x="3428999" y="1399032"/>
            <a:ext cx="512064" cy="512064"/>
          </a:xfrm>
          <a:prstGeom prst="ellipse">
            <a:avLst/>
          </a:prstGeom>
          <a:solidFill>
            <a:srgbClr val="3EC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2624327" y="1399032"/>
            <a:ext cx="21214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⚙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2697479" y="1965960"/>
            <a:ext cx="1975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Supabase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2697479" y="2221992"/>
            <a:ext cx="19751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Backend • Database • Auth • Storage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882896" y="1234440"/>
            <a:ext cx="2121408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5687568" y="1399032"/>
            <a:ext cx="512064" cy="512064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4882896" y="1399032"/>
            <a:ext cx="21214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⬇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4956048" y="1965960"/>
            <a:ext cx="1975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PyMuPDF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4956048" y="2221992"/>
            <a:ext cx="19751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CV &amp; PDF Text Extraction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7141464" y="1234440"/>
            <a:ext cx="2121408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Oval 17425"/>
          <p:cNvSpPr/>
          <p:nvPr/>
        </p:nvSpPr>
        <p:spPr>
          <a:xfrm>
            <a:off x="7946136" y="1399032"/>
            <a:ext cx="512064" cy="512064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/>
          <p:cNvSpPr txBox="1"/>
          <p:nvPr/>
        </p:nvSpPr>
        <p:spPr>
          <a:xfrm>
            <a:off x="7141464" y="1399032"/>
            <a:ext cx="21214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✦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214616" y="1965960"/>
            <a:ext cx="1975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Claude API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7214616" y="2221992"/>
            <a:ext cx="19751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CV Analysis • Skill ID • AI Recs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9400032" y="1234440"/>
            <a:ext cx="2121408" cy="141732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Oval 17430"/>
          <p:cNvSpPr/>
          <p:nvPr/>
        </p:nvSpPr>
        <p:spPr>
          <a:xfrm>
            <a:off x="10204704" y="1399032"/>
            <a:ext cx="512064" cy="512064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2" name="TextBox 17431"/>
          <p:cNvSpPr txBox="1"/>
          <p:nvPr/>
        </p:nvSpPr>
        <p:spPr>
          <a:xfrm>
            <a:off x="9400032" y="1399032"/>
            <a:ext cx="212140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▲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9473184" y="1965960"/>
            <a:ext cx="1975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2B2B2B"/>
                </a:solidFill>
                <a:latin typeface="Arial"/>
              </a:rPr>
              <a:t>Netlify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9473184" y="2221992"/>
            <a:ext cx="1975103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95959"/>
                </a:solidFill>
                <a:latin typeface="Arial"/>
              </a:rPr>
              <a:t>Application Deployment</a:t>
            </a:r>
          </a:p>
        </p:txBody>
      </p:sp>
      <p:sp>
        <p:nvSpPr>
          <p:cNvPr id="17435" name="Rounded Rectangle 17434"/>
          <p:cNvSpPr/>
          <p:nvPr/>
        </p:nvSpPr>
        <p:spPr>
          <a:xfrm>
            <a:off x="365760" y="2971800"/>
            <a:ext cx="11430000" cy="384048"/>
          </a:xfrm>
          <a:prstGeom prst="roundRect">
            <a:avLst>
              <a:gd name="adj" fmla="val 6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365760" y="2971800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IMPLEMENTATION FLOW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365760" y="361188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8" name="Oval 17437"/>
          <p:cNvSpPr/>
          <p:nvPr/>
        </p:nvSpPr>
        <p:spPr>
          <a:xfrm>
            <a:off x="475488" y="3721608"/>
            <a:ext cx="384048" cy="384048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/>
          <p:cNvSpPr txBox="1"/>
          <p:nvPr/>
        </p:nvSpPr>
        <p:spPr>
          <a:xfrm>
            <a:off x="475488" y="3721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475488" y="4178808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CV Upload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2487168" y="3611880"/>
            <a:ext cx="1371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2624327" y="361188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3" name="Oval 17442"/>
          <p:cNvSpPr/>
          <p:nvPr/>
        </p:nvSpPr>
        <p:spPr>
          <a:xfrm>
            <a:off x="2734056" y="3721608"/>
            <a:ext cx="384048" cy="384048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4" name="TextBox 17443"/>
          <p:cNvSpPr txBox="1"/>
          <p:nvPr/>
        </p:nvSpPr>
        <p:spPr>
          <a:xfrm>
            <a:off x="2734056" y="3721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734056" y="4178808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PyMuPDF Extracts Text</a:t>
            </a:r>
          </a:p>
        </p:txBody>
      </p:sp>
      <p:sp>
        <p:nvSpPr>
          <p:cNvPr id="17446" name="TextBox 17445"/>
          <p:cNvSpPr txBox="1"/>
          <p:nvPr/>
        </p:nvSpPr>
        <p:spPr>
          <a:xfrm>
            <a:off x="4745736" y="3611880"/>
            <a:ext cx="1371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7447" name="Rounded Rectangle 17446"/>
          <p:cNvSpPr/>
          <p:nvPr/>
        </p:nvSpPr>
        <p:spPr>
          <a:xfrm>
            <a:off x="4882896" y="361188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8" name="Oval 17447"/>
          <p:cNvSpPr/>
          <p:nvPr/>
        </p:nvSpPr>
        <p:spPr>
          <a:xfrm>
            <a:off x="4992624" y="3721608"/>
            <a:ext cx="384048" cy="384048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9" name="TextBox 17448"/>
          <p:cNvSpPr txBox="1"/>
          <p:nvPr/>
        </p:nvSpPr>
        <p:spPr>
          <a:xfrm>
            <a:off x="4992624" y="3721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50" name="TextBox 17449"/>
          <p:cNvSpPr txBox="1"/>
          <p:nvPr/>
        </p:nvSpPr>
        <p:spPr>
          <a:xfrm>
            <a:off x="4992624" y="4178808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Claude API Analyses Skills</a:t>
            </a:r>
          </a:p>
        </p:txBody>
      </p:sp>
      <p:sp>
        <p:nvSpPr>
          <p:cNvPr id="17451" name="TextBox 17450"/>
          <p:cNvSpPr txBox="1"/>
          <p:nvPr/>
        </p:nvSpPr>
        <p:spPr>
          <a:xfrm>
            <a:off x="7004304" y="3611880"/>
            <a:ext cx="1371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7452" name="Rounded Rectangle 17451"/>
          <p:cNvSpPr/>
          <p:nvPr/>
        </p:nvSpPr>
        <p:spPr>
          <a:xfrm>
            <a:off x="7141464" y="361188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3" name="Oval 17452"/>
          <p:cNvSpPr/>
          <p:nvPr/>
        </p:nvSpPr>
        <p:spPr>
          <a:xfrm>
            <a:off x="7251192" y="3721608"/>
            <a:ext cx="384048" cy="384048"/>
          </a:xfrm>
          <a:prstGeom prst="ellipse">
            <a:avLst/>
          </a:prstGeom>
          <a:solidFill>
            <a:srgbClr val="C03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4" name="TextBox 17453"/>
          <p:cNvSpPr txBox="1"/>
          <p:nvPr/>
        </p:nvSpPr>
        <p:spPr>
          <a:xfrm>
            <a:off x="7251192" y="3721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55" name="TextBox 17454"/>
          <p:cNvSpPr txBox="1"/>
          <p:nvPr/>
        </p:nvSpPr>
        <p:spPr>
          <a:xfrm>
            <a:off x="7251192" y="4178808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AI Matching vs Opportunities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9262872" y="3611880"/>
            <a:ext cx="137160" cy="1234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595959"/>
                </a:solidFill>
                <a:latin typeface="Arial"/>
              </a:rPr>
              <a:t>→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9400032" y="3611880"/>
            <a:ext cx="2121408" cy="1234440"/>
          </a:xfrm>
          <a:prstGeom prst="roundRect">
            <a:avLst>
              <a:gd name="adj" fmla="val 8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8" name="Oval 17457"/>
          <p:cNvSpPr/>
          <p:nvPr/>
        </p:nvSpPr>
        <p:spPr>
          <a:xfrm>
            <a:off x="9509759" y="3721608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9" name="TextBox 17458"/>
          <p:cNvSpPr txBox="1"/>
          <p:nvPr/>
        </p:nvSpPr>
        <p:spPr>
          <a:xfrm>
            <a:off x="9509759" y="372160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9509759" y="4178808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/>
              </a:rPr>
              <a:t>Personalized Recs: Jobs • Interns • Projects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365760" y="5120640"/>
            <a:ext cx="11430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1">
                <a:solidFill>
                  <a:srgbClr val="595959"/>
                </a:solidFill>
                <a:latin typeface="Arial"/>
              </a:rPr>
              <a:t>From raw CV to placement — one continuous, AI-driven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HIREME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051560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TextBox 17410"/>
          <p:cNvSpPr txBox="1"/>
          <p:nvPr/>
        </p:nvSpPr>
        <p:spPr>
          <a:xfrm>
            <a:off x="365760" y="1051560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 TECHNICALLY FEASIBLE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65760" y="1572768"/>
            <a:ext cx="2724912" cy="621792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3" name="Oval 17412"/>
          <p:cNvSpPr/>
          <p:nvPr/>
        </p:nvSpPr>
        <p:spPr>
          <a:xfrm>
            <a:off x="475488" y="1700784"/>
            <a:ext cx="365760" cy="365760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4" name="TextBox 17413"/>
          <p:cNvSpPr txBox="1"/>
          <p:nvPr/>
        </p:nvSpPr>
        <p:spPr>
          <a:xfrm>
            <a:off x="475488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932688" y="16550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Arial"/>
              </a:rPr>
              <a:t>React/Next.js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932688" y="1901952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Scalable Frontend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227832" y="1572768"/>
            <a:ext cx="2724912" cy="621792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8" name="Oval 17417"/>
          <p:cNvSpPr/>
          <p:nvPr/>
        </p:nvSpPr>
        <p:spPr>
          <a:xfrm>
            <a:off x="3337560" y="1700784"/>
            <a:ext cx="365760" cy="365760"/>
          </a:xfrm>
          <a:prstGeom prst="ellipse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TextBox 17418"/>
          <p:cNvSpPr txBox="1"/>
          <p:nvPr/>
        </p:nvSpPr>
        <p:spPr>
          <a:xfrm>
            <a:off x="3337560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3794759" y="16550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Arial"/>
              </a:rPr>
              <a:t>Supabase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3794759" y="1901952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Auth, DB &amp; Storage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089904" y="1572768"/>
            <a:ext cx="2724912" cy="621792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Oval 17422"/>
          <p:cNvSpPr/>
          <p:nvPr/>
        </p:nvSpPr>
        <p:spPr>
          <a:xfrm>
            <a:off x="6199632" y="1700784"/>
            <a:ext cx="365760" cy="365760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4" name="TextBox 17423"/>
          <p:cNvSpPr txBox="1"/>
          <p:nvPr/>
        </p:nvSpPr>
        <p:spPr>
          <a:xfrm>
            <a:off x="6199632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6656832" y="16550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Arial"/>
              </a:rPr>
              <a:t>Cloud AI APIs</a:t>
            </a:r>
          </a:p>
        </p:txBody>
      </p:sp>
      <p:sp>
        <p:nvSpPr>
          <p:cNvPr id="17426" name="TextBox 17425"/>
          <p:cNvSpPr txBox="1"/>
          <p:nvPr/>
        </p:nvSpPr>
        <p:spPr>
          <a:xfrm>
            <a:off x="6656832" y="1901952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Intelligent Features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8951976" y="1572768"/>
            <a:ext cx="2724912" cy="621792"/>
          </a:xfrm>
          <a:prstGeom prst="roundRect">
            <a:avLst>
              <a:gd name="adj" fmla="val 15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8" name="Oval 17427"/>
          <p:cNvSpPr/>
          <p:nvPr/>
        </p:nvSpPr>
        <p:spPr>
          <a:xfrm>
            <a:off x="9061703" y="1700784"/>
            <a:ext cx="365760" cy="365760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9" name="TextBox 17428"/>
          <p:cNvSpPr txBox="1"/>
          <p:nvPr/>
        </p:nvSpPr>
        <p:spPr>
          <a:xfrm>
            <a:off x="9061703" y="1700784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9518903" y="165506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2B2B2B"/>
                </a:solidFill>
                <a:latin typeface="Arial"/>
              </a:rPr>
              <a:t>Real-time Core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9518903" y="1901952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95959"/>
                </a:solidFill>
                <a:latin typeface="Arial"/>
              </a:rPr>
              <a:t>Messaging &amp; Feeds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365760" y="2395728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TextBox 17432"/>
          <p:cNvSpPr txBox="1"/>
          <p:nvPr/>
        </p:nvSpPr>
        <p:spPr>
          <a:xfrm>
            <a:off x="365760" y="2395728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⚠ KEY RISKS &amp; MITIGATIONS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65760" y="2916936"/>
            <a:ext cx="2121408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Oval 17434"/>
          <p:cNvSpPr/>
          <p:nvPr/>
        </p:nvSpPr>
        <p:spPr>
          <a:xfrm>
            <a:off x="1207008" y="3044952"/>
            <a:ext cx="438912" cy="438912"/>
          </a:xfrm>
          <a:prstGeom prst="ellipse">
            <a:avLst/>
          </a:prstGeom>
          <a:solidFill>
            <a:srgbClr val="C03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6" name="TextBox 17435"/>
          <p:cNvSpPr txBox="1"/>
          <p:nvPr/>
        </p:nvSpPr>
        <p:spPr>
          <a:xfrm>
            <a:off x="1207008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457200" y="3538728"/>
            <a:ext cx="1938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Fake Profiles</a:t>
            </a:r>
          </a:p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&amp; Postings</a:t>
            </a:r>
          </a:p>
        </p:txBody>
      </p:sp>
      <p:sp>
        <p:nvSpPr>
          <p:cNvPr id="17438" name="TextBox 17437"/>
          <p:cNvSpPr txBox="1"/>
          <p:nvPr/>
        </p:nvSpPr>
        <p:spPr>
          <a:xfrm>
            <a:off x="475488" y="3959352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Verification &amp; reporting systems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2624327" y="2916936"/>
            <a:ext cx="2121408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0" name="Oval 17439"/>
          <p:cNvSpPr/>
          <p:nvPr/>
        </p:nvSpPr>
        <p:spPr>
          <a:xfrm>
            <a:off x="3465575" y="3044952"/>
            <a:ext cx="438912" cy="438912"/>
          </a:xfrm>
          <a:prstGeom prst="ellipse">
            <a:avLst/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1" name="TextBox 17440"/>
          <p:cNvSpPr txBox="1"/>
          <p:nvPr/>
        </p:nvSpPr>
        <p:spPr>
          <a:xfrm>
            <a:off x="3465575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2715768" y="3538728"/>
            <a:ext cx="1938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Poor AI Matches</a:t>
            </a:r>
          </a:p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&amp; Skill Inflation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2734056" y="3959352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Feedback-based matching, assessments &amp; project evidence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4882896" y="2916936"/>
            <a:ext cx="2121408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5" name="Oval 17444"/>
          <p:cNvSpPr/>
          <p:nvPr/>
        </p:nvSpPr>
        <p:spPr>
          <a:xfrm>
            <a:off x="5724144" y="3044952"/>
            <a:ext cx="438912" cy="438912"/>
          </a:xfrm>
          <a:prstGeom prst="ellipse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46" name="TextBox 17445"/>
          <p:cNvSpPr txBox="1"/>
          <p:nvPr/>
        </p:nvSpPr>
        <p:spPr>
          <a:xfrm>
            <a:off x="5724144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4974336" y="3538728"/>
            <a:ext cx="1938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Spam &amp; Scams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4992624" y="3959352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AI moderation and reporting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7141464" y="2916936"/>
            <a:ext cx="2121408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0" name="Oval 17449"/>
          <p:cNvSpPr/>
          <p:nvPr/>
        </p:nvSpPr>
        <p:spPr>
          <a:xfrm>
            <a:off x="7982711" y="3044952"/>
            <a:ext cx="438912" cy="438912"/>
          </a:xfrm>
          <a:prstGeom prst="ellipse">
            <a:avLst/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1" name="TextBox 17450"/>
          <p:cNvSpPr txBox="1"/>
          <p:nvPr/>
        </p:nvSpPr>
        <p:spPr>
          <a:xfrm>
            <a:off x="7982711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7232903" y="3538728"/>
            <a:ext cx="1938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User</a:t>
            </a:r>
          </a:p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Acquisition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7251192" y="3959352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College and community partnerships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9400032" y="2916936"/>
            <a:ext cx="2121408" cy="148132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5" name="Oval 17454"/>
          <p:cNvSpPr/>
          <p:nvPr/>
        </p:nvSpPr>
        <p:spPr>
          <a:xfrm>
            <a:off x="10241280" y="3044952"/>
            <a:ext cx="438912" cy="438912"/>
          </a:xfrm>
          <a:prstGeom prst="ellipse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56" name="TextBox 17455"/>
          <p:cNvSpPr txBox="1"/>
          <p:nvPr/>
        </p:nvSpPr>
        <p:spPr>
          <a:xfrm>
            <a:off x="10241280" y="3044952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⚠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9491472" y="3538728"/>
            <a:ext cx="193852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AI Cost</a:t>
            </a:r>
          </a:p>
          <a:p>
            <a:pPr algn="ctr"/>
            <a:r>
              <a:rPr sz="1100" b="1" i="0">
                <a:solidFill>
                  <a:srgbClr val="1F3864"/>
                </a:solidFill>
                <a:latin typeface="Arial"/>
              </a:rPr>
              <a:t>Control</a:t>
            </a:r>
          </a:p>
        </p:txBody>
      </p:sp>
      <p:sp>
        <p:nvSpPr>
          <p:cNvPr id="17458" name="TextBox 17457"/>
          <p:cNvSpPr txBox="1"/>
          <p:nvPr/>
        </p:nvSpPr>
        <p:spPr>
          <a:xfrm>
            <a:off x="9509759" y="3959352"/>
            <a:ext cx="190195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95959"/>
                </a:solidFill>
                <a:latin typeface="Arial"/>
              </a:rPr>
              <a:t>Caching and optimized API usage</a:t>
            </a:r>
          </a:p>
        </p:txBody>
      </p:sp>
      <p:sp>
        <p:nvSpPr>
          <p:cNvPr id="17459" name="Rounded Rectangle 17458"/>
          <p:cNvSpPr/>
          <p:nvPr/>
        </p:nvSpPr>
        <p:spPr>
          <a:xfrm>
            <a:off x="365760" y="4617720"/>
            <a:ext cx="11430000" cy="384048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0" name="TextBox 17459"/>
          <p:cNvSpPr txBox="1"/>
          <p:nvPr/>
        </p:nvSpPr>
        <p:spPr>
          <a:xfrm>
            <a:off x="365760" y="4617720"/>
            <a:ext cx="114300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💰 COMMERCIAL VIABILITY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365760" y="5074920"/>
            <a:ext cx="2121408" cy="868680"/>
          </a:xfrm>
          <a:prstGeom prst="roundRect">
            <a:avLst>
              <a:gd name="adj" fmla="val 15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2" name="TextBox 17461"/>
          <p:cNvSpPr txBox="1"/>
          <p:nvPr/>
        </p:nvSpPr>
        <p:spPr>
          <a:xfrm>
            <a:off x="438912" y="5074920"/>
            <a:ext cx="197510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Job Posting &amp;</a:t>
            </a:r>
          </a:p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Talent Discovery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365760" y="5074920"/>
            <a:ext cx="2121408" cy="73152"/>
          </a:xfrm>
          <a:prstGeom prst="roundRect">
            <a:avLst>
              <a:gd name="adj" fmla="val 50000"/>
            </a:avLst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4" name="Rounded Rectangle 17463"/>
          <p:cNvSpPr/>
          <p:nvPr/>
        </p:nvSpPr>
        <p:spPr>
          <a:xfrm>
            <a:off x="2624327" y="5074920"/>
            <a:ext cx="2121408" cy="868680"/>
          </a:xfrm>
          <a:prstGeom prst="roundRect">
            <a:avLst>
              <a:gd name="adj" fmla="val 15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5" name="TextBox 17464"/>
          <p:cNvSpPr txBox="1"/>
          <p:nvPr/>
        </p:nvSpPr>
        <p:spPr>
          <a:xfrm>
            <a:off x="2697479" y="5074920"/>
            <a:ext cx="197510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Freelance</a:t>
            </a:r>
          </a:p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Project Fees</a:t>
            </a:r>
          </a:p>
        </p:txBody>
      </p:sp>
      <p:sp>
        <p:nvSpPr>
          <p:cNvPr id="17466" name="Rounded Rectangle 17465"/>
          <p:cNvSpPr/>
          <p:nvPr/>
        </p:nvSpPr>
        <p:spPr>
          <a:xfrm>
            <a:off x="2624327" y="5074920"/>
            <a:ext cx="2121408" cy="73152"/>
          </a:xfrm>
          <a:prstGeom prst="roundRect">
            <a:avLst>
              <a:gd name="adj" fmla="val 50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7" name="Rounded Rectangle 17466"/>
          <p:cNvSpPr/>
          <p:nvPr/>
        </p:nvSpPr>
        <p:spPr>
          <a:xfrm>
            <a:off x="4882896" y="5074920"/>
            <a:ext cx="2121408" cy="868680"/>
          </a:xfrm>
          <a:prstGeom prst="roundRect">
            <a:avLst>
              <a:gd name="adj" fmla="val 15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68" name="TextBox 17467"/>
          <p:cNvSpPr txBox="1"/>
          <p:nvPr/>
        </p:nvSpPr>
        <p:spPr>
          <a:xfrm>
            <a:off x="4956048" y="5074920"/>
            <a:ext cx="197510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Free Student</a:t>
            </a:r>
          </a:p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Ecosystem</a:t>
            </a:r>
          </a:p>
        </p:txBody>
      </p:sp>
      <p:sp>
        <p:nvSpPr>
          <p:cNvPr id="17469" name="Rounded Rectangle 17468"/>
          <p:cNvSpPr/>
          <p:nvPr/>
        </p:nvSpPr>
        <p:spPr>
          <a:xfrm>
            <a:off x="4882896" y="5074920"/>
            <a:ext cx="2121408" cy="73152"/>
          </a:xfrm>
          <a:prstGeom prst="roundRect">
            <a:avLst>
              <a:gd name="adj" fmla="val 5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0" name="Rounded Rectangle 17469"/>
          <p:cNvSpPr/>
          <p:nvPr/>
        </p:nvSpPr>
        <p:spPr>
          <a:xfrm>
            <a:off x="7141464" y="5074920"/>
            <a:ext cx="2121408" cy="868680"/>
          </a:xfrm>
          <a:prstGeom prst="roundRect">
            <a:avLst>
              <a:gd name="adj" fmla="val 15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1" name="TextBox 17470"/>
          <p:cNvSpPr txBox="1"/>
          <p:nvPr/>
        </p:nvSpPr>
        <p:spPr>
          <a:xfrm>
            <a:off x="7214616" y="5074920"/>
            <a:ext cx="197510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Premium AI</a:t>
            </a:r>
          </a:p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Career Tools</a:t>
            </a:r>
          </a:p>
        </p:txBody>
      </p:sp>
      <p:sp>
        <p:nvSpPr>
          <p:cNvPr id="17472" name="Rounded Rectangle 17471"/>
          <p:cNvSpPr/>
          <p:nvPr/>
        </p:nvSpPr>
        <p:spPr>
          <a:xfrm>
            <a:off x="7141464" y="5074920"/>
            <a:ext cx="2121408" cy="73152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3" name="Rounded Rectangle 17472"/>
          <p:cNvSpPr/>
          <p:nvPr/>
        </p:nvSpPr>
        <p:spPr>
          <a:xfrm>
            <a:off x="9400032" y="5074920"/>
            <a:ext cx="2121408" cy="868680"/>
          </a:xfrm>
          <a:prstGeom prst="roundRect">
            <a:avLst>
              <a:gd name="adj" fmla="val 15000"/>
            </a:avLst>
          </a:prstGeom>
          <a:solidFill>
            <a:srgbClr val="DC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74" name="TextBox 17473"/>
          <p:cNvSpPr txBox="1"/>
          <p:nvPr/>
        </p:nvSpPr>
        <p:spPr>
          <a:xfrm>
            <a:off x="9473184" y="5074920"/>
            <a:ext cx="1975103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Institutional</a:t>
            </a:r>
          </a:p>
          <a:p>
            <a:pPr algn="ctr"/>
            <a:r>
              <a:rPr sz="1050" b="1" i="0">
                <a:solidFill>
                  <a:srgbClr val="1F3864"/>
                </a:solidFill>
                <a:latin typeface="Arial"/>
              </a:rPr>
              <a:t>Solutions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9400032" y="5074920"/>
            <a:ext cx="2121408" cy="73152"/>
          </a:xfrm>
          <a:prstGeom prst="roundRect">
            <a:avLst>
              <a:gd name="adj" fmla="val 50000"/>
            </a:avLst>
          </a:prstGeom>
          <a:solidFill>
            <a:srgbClr val="11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HIREME</a:t>
            </a:r>
            <a:endParaRPr lang="en-IN" sz="16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365760" y="1234440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1" name="Rectangle 17410"/>
          <p:cNvSpPr/>
          <p:nvPr/>
        </p:nvSpPr>
        <p:spPr>
          <a:xfrm>
            <a:off x="365760" y="1234440"/>
            <a:ext cx="3611880" cy="5029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2" name="TextBox 17411"/>
          <p:cNvSpPr txBox="1"/>
          <p:nvPr/>
        </p:nvSpPr>
        <p:spPr>
          <a:xfrm>
            <a:off x="365760" y="123444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STUDENTS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502920" y="187451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Learn → Build → Showcase → Connect → Get Hired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594360" y="2377440"/>
            <a:ext cx="31546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Find relevant internships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Discover real-world projects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Build professional identity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Receive AI career recommendations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Network with industry professionals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4160520" y="1234440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6" name="Rectangle 17415"/>
          <p:cNvSpPr/>
          <p:nvPr/>
        </p:nvSpPr>
        <p:spPr>
          <a:xfrm>
            <a:off x="4160520" y="1234440"/>
            <a:ext cx="3611880" cy="50292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7" name="TextBox 17416"/>
          <p:cNvSpPr txBox="1"/>
          <p:nvPr/>
        </p:nvSpPr>
        <p:spPr>
          <a:xfrm>
            <a:off x="4160520" y="123444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FREELANCERS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297680" y="187451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Skill → Project → Collaboration → Income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389120" y="2377440"/>
            <a:ext cx="31546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Discover relevant projects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Collaborate with other users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Manage projects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Build reputation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Showcase completed work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955280" y="1234440"/>
            <a:ext cx="3611880" cy="3611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1" name="Rectangle 17420"/>
          <p:cNvSpPr/>
          <p:nvPr/>
        </p:nvSpPr>
        <p:spPr>
          <a:xfrm>
            <a:off x="7955280" y="1234440"/>
            <a:ext cx="361188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2" name="TextBox 17421"/>
          <p:cNvSpPr txBox="1"/>
          <p:nvPr/>
        </p:nvSpPr>
        <p:spPr>
          <a:xfrm>
            <a:off x="7955280" y="1234440"/>
            <a:ext cx="36118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COMPANIES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8092440" y="1874519"/>
            <a:ext cx="3337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1">
                <a:solidFill>
                  <a:srgbClr val="595959"/>
                </a:solidFill>
                <a:latin typeface="Arial"/>
              </a:rPr>
              <a:t>Requirement → AI Match → Talent → Hire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8183880" y="2377440"/>
            <a:ext cx="3154680" cy="22860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Post jobs/internships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Find skill-matched candidates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Discover emerging talent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Collaborate with student teams</a:t>
            </a:r>
          </a:p>
          <a:p>
            <a:pPr marL="182880" indent="-182880">
              <a:spcAft>
                <a:spcPts val="600"/>
              </a:spcAft>
              <a:buChar char="•"/>
            </a:pPr>
            <a:r>
              <a:rPr sz="1100">
                <a:solidFill>
                  <a:srgbClr val="2B2B2B"/>
                </a:solidFill>
                <a:latin typeface="Arial"/>
              </a:rPr>
              <a:t>Reduce talent-search time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365760" y="5074920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6" name="TextBox 17425"/>
          <p:cNvSpPr txBox="1"/>
          <p:nvPr/>
        </p:nvSpPr>
        <p:spPr>
          <a:xfrm>
            <a:off x="548640" y="5074920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Overall Impact:  Employment ↑   Practical Experience ↑   Industry–Student Connection ↑   Skill Visibility ↑   Hiring Friction ↓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7659</TotalTime>
  <Words>766</Words>
  <Application>Microsoft Office PowerPoint</Application>
  <PresentationFormat>Widescreen</PresentationFormat>
  <Paragraphs>124</Paragraphs>
  <Slides>6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SMART INDIA HACKATHON 2026</vt:lpstr>
      <vt:lpstr>PROBLEM STATEMENT</vt:lpstr>
      <vt:lpstr>HIREME</vt:lpstr>
      <vt:lpstr>TECHNICAL APPROACH</vt:lpstr>
      <vt:lpstr>FEASIBILITY AND VIABILITY</vt:lpstr>
      <vt:lpstr>IMPACT AND BENEFITS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Afrah Jihas</cp:lastModifiedBy>
  <cp:revision>154</cp:revision>
  <dcterms:created xsi:type="dcterms:W3CDTF">2013-12-12T18:46:50Z</dcterms:created>
  <dcterms:modified xsi:type="dcterms:W3CDTF">2026-09-10T10:00:49Z</dcterms:modified>
  <cp:category/>
</cp:coreProperties>
</file>